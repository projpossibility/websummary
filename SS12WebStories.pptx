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jpg" ContentType="image/gif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sldIdLst>
    <p:sldId id="256" r:id="rId2"/>
    <p:sldId id="257" r:id="rId3"/>
    <p:sldId id="262" r:id="rId4"/>
    <p:sldId id="258" r:id="rId5"/>
    <p:sldId id="260" r:id="rId6"/>
    <p:sldId id="261" r:id="rId7"/>
    <p:sldId id="259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9" d="100"/>
          <a:sy n="99" d="100"/>
        </p:scale>
        <p:origin x="-1360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interSettings" Target="printerSettings/printerSettings1.bin"/><Relationship Id="rId10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627094"/>
            <a:ext cx="7772400" cy="1470025"/>
          </a:xfrm>
        </p:spPr>
        <p:txBody>
          <a:bodyPr anchor="b" anchorCtr="0"/>
          <a:lstStyle>
            <a:lvl1pPr>
              <a:defRPr sz="5400">
                <a:gradFill>
                  <a:gsLst>
                    <a:gs pos="0">
                      <a:schemeClr val="tx2"/>
                    </a:gs>
                    <a:gs pos="100000">
                      <a:schemeClr val="tx2">
                        <a:lumMod val="75000"/>
                      </a:schemeClr>
                    </a:gs>
                  </a:gsLst>
                  <a:lin ang="5400000" scaled="0"/>
                </a:gradFill>
                <a:effectLst>
                  <a:outerShdw blurRad="50800" dist="25400" dir="5400000" algn="t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1" y="3810000"/>
            <a:ext cx="7770812" cy="1752600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600">
                <a:gradFill>
                  <a:gsLst>
                    <a:gs pos="0">
                      <a:schemeClr val="tx2"/>
                    </a:gs>
                    <a:gs pos="100000">
                      <a:schemeClr val="tx2">
                        <a:lumMod val="75000"/>
                      </a:schemeClr>
                    </a:gs>
                  </a:gsLst>
                  <a:lin ang="5400000" scaled="0"/>
                </a:gra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CoverGly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048000"/>
            <a:ext cx="1123950" cy="771525"/>
          </a:xfrm>
          <a:prstGeom prst="rect">
            <a:avLst/>
          </a:pr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2" descr="HR-Glyph-R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49040" y="1658992"/>
            <a:ext cx="1645920" cy="17041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26440"/>
            <a:ext cx="7770813" cy="1472184"/>
          </a:xfrm>
        </p:spPr>
        <p:txBody>
          <a:bodyPr anchor="b" anchorCtr="0"/>
          <a:lstStyle>
            <a:lvl1pPr algn="ctr">
              <a:defRPr sz="5400" b="0" i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813048"/>
            <a:ext cx="7770813" cy="1755648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Glyph-Section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3174066"/>
            <a:ext cx="1066800" cy="5905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209801"/>
            <a:ext cx="3657600" cy="3657600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 marL="2290763" indent="-461963">
              <a:defRPr sz="1800"/>
            </a:lvl6pPr>
            <a:lvl7pPr marL="2290763" indent="-461963">
              <a:defRPr sz="1800"/>
            </a:lvl7pPr>
            <a:lvl8pPr marL="2290763" indent="-461963">
              <a:defRPr sz="1800"/>
            </a:lvl8pPr>
            <a:lvl9pPr marL="2290763" indent="-461963"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2209801"/>
            <a:ext cx="3657600" cy="3657600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 marL="2290763" indent="-461963">
              <a:defRPr sz="1800"/>
            </a:lvl6pPr>
            <a:lvl7pPr marL="2290763" indent="-461963">
              <a:defRPr sz="1800"/>
            </a:lvl7pPr>
            <a:lvl8pPr marL="2290763" indent="-461963">
              <a:defRPr sz="1800"/>
            </a:lvl8pPr>
            <a:lvl9pPr marL="2290763" indent="-461963"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2" descr="HR-Glyph-R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49040" y="1658992"/>
            <a:ext cx="1645920" cy="17041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27238"/>
            <a:ext cx="3657600" cy="639762"/>
          </a:xfrm>
        </p:spPr>
        <p:txBody>
          <a:bodyPr anchor="ctr" anchorCtr="0"/>
          <a:lstStyle>
            <a:lvl1pPr marL="0" indent="0" algn="ctr">
              <a:spcBef>
                <a:spcPts val="30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819400"/>
            <a:ext cx="3657600" cy="3048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 marL="2290763" indent="-461963">
              <a:defRPr sz="1600"/>
            </a:lvl6pPr>
            <a:lvl7pPr marL="2290763" indent="-461963">
              <a:defRPr sz="1600"/>
            </a:lvl7pPr>
            <a:lvl8pPr marL="2290763" indent="-461963">
              <a:defRPr sz="1600"/>
            </a:lvl8pPr>
            <a:lvl9pPr marL="2290763" indent="-461963"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0" y="2027238"/>
            <a:ext cx="3657600" cy="639762"/>
          </a:xfrm>
        </p:spPr>
        <p:txBody>
          <a:bodyPr anchor="ctr" anchorCtr="0"/>
          <a:lstStyle>
            <a:lvl1pPr marL="0" indent="0" algn="ctr">
              <a:spcBef>
                <a:spcPts val="30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0600" y="2819400"/>
            <a:ext cx="3657600" cy="3048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 marL="2290763" indent="-461963">
              <a:defRPr sz="1600"/>
            </a:lvl6pPr>
            <a:lvl7pPr marL="2290763" indent="-461963">
              <a:defRPr sz="1600"/>
            </a:lvl7pPr>
            <a:lvl8pPr marL="2290763" indent="-461963">
              <a:defRPr sz="1600"/>
            </a:lvl8pPr>
            <a:lvl9pPr marL="2290763" indent="-461963"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2" descr="HR-Glyph-R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49040" y="1658992"/>
            <a:ext cx="1645920" cy="17041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2" descr="HR-Glyph-R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49040" y="1658992"/>
            <a:ext cx="1645920" cy="17041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906" y="914400"/>
            <a:ext cx="3657600" cy="1162050"/>
          </a:xfrm>
        </p:spPr>
        <p:txBody>
          <a:bodyPr anchor="b"/>
          <a:lstStyle>
            <a:lvl1pPr algn="ctr">
              <a:defRPr sz="38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6118" y="457199"/>
            <a:ext cx="3657600" cy="541020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 marL="2290763" indent="-461963">
              <a:tabLst/>
              <a:defRPr sz="2000"/>
            </a:lvl6pPr>
            <a:lvl7pPr marL="2290763" indent="-461963">
              <a:tabLst/>
              <a:defRPr sz="2000"/>
            </a:lvl7pPr>
            <a:lvl8pPr marL="2290763" indent="-461963">
              <a:tabLst/>
              <a:defRPr sz="2000"/>
            </a:lvl8pPr>
            <a:lvl9pPr marL="2290763" indent="-461963">
              <a:tabLst/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8906" y="2590799"/>
            <a:ext cx="3657600" cy="2895601"/>
          </a:xfrm>
        </p:spPr>
        <p:txBody>
          <a:bodyPr>
            <a:normAutofit/>
          </a:bodyPr>
          <a:lstStyle>
            <a:lvl1pPr marL="0" indent="0" algn="ctr">
              <a:lnSpc>
                <a:spcPct val="110000"/>
              </a:lnSpc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2" descr="HR-Glyph-R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64746" y="2286000"/>
            <a:ext cx="1645920" cy="17041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013" y="914400"/>
            <a:ext cx="3657600" cy="1161288"/>
          </a:xfrm>
          <a:effectLst/>
        </p:spPr>
        <p:txBody>
          <a:bodyPr vert="horz" lIns="91440" tIns="45720" rIns="91440" bIns="45720" rtlCol="0" anchor="b" anchorCtr="0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800" b="0" kern="1200">
                <a:solidFill>
                  <a:schemeClr val="tx2"/>
                </a:solidFill>
                <a:effectLst>
                  <a:outerShdw blurRad="38100" dist="12700" algn="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58906" y="457200"/>
            <a:ext cx="3657600" cy="5413248"/>
          </a:xfrm>
          <a:ln w="101600">
            <a:solidFill>
              <a:schemeClr val="tx1"/>
            </a:solidFill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99013" y="2587752"/>
            <a:ext cx="3657600" cy="2898648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spcBef>
                <a:spcPts val="600"/>
              </a:spcBef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ctr" defTabSz="914400" rtl="0" eaLnBrk="1" latinLnBrk="0" hangingPunct="1">
              <a:lnSpc>
                <a:spcPct val="110000"/>
              </a:lnSpc>
              <a:spcBef>
                <a:spcPts val="2000"/>
              </a:spcBef>
              <a:buClr>
                <a:schemeClr val="accent3"/>
              </a:buClr>
              <a:buFont typeface="Wingdings" pitchFamily="2" charset="2"/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2" descr="HR-Glyph-R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04853" y="2286000"/>
            <a:ext cx="1645920" cy="17041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abov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738282"/>
            <a:ext cx="7770813" cy="1048870"/>
          </a:xfrm>
          <a:effectLst/>
        </p:spPr>
        <p:txBody>
          <a:bodyPr vert="horz" lIns="91440" tIns="45720" rIns="91440" bIns="45720" rtlCol="0" anchor="b" anchorCtr="0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800" b="0" kern="1200">
                <a:solidFill>
                  <a:schemeClr val="tx2"/>
                </a:solidFill>
                <a:effectLst>
                  <a:outerShdw blurRad="38100" dist="12700" algn="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0" y="457200"/>
            <a:ext cx="4572000" cy="3173506"/>
          </a:xfrm>
          <a:ln w="101600">
            <a:solidFill>
              <a:schemeClr val="tx1"/>
            </a:solidFill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181600"/>
            <a:ext cx="7770813" cy="68580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ctr" defTabSz="914400" rtl="0" eaLnBrk="1" latinLnBrk="0" hangingPunct="1">
              <a:lnSpc>
                <a:spcPct val="110000"/>
              </a:lnSpc>
              <a:spcBef>
                <a:spcPts val="2000"/>
              </a:spcBef>
              <a:buClr>
                <a:schemeClr val="accent3"/>
              </a:buClr>
              <a:buFont typeface="Wingdings" pitchFamily="2" charset="2"/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2" descr="HR-Glyph-R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49040" y="4890247"/>
            <a:ext cx="1645920" cy="17041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 marL="2286000" indent="-457200">
              <a:defRPr/>
            </a:lvl6pPr>
            <a:lvl7pPr marL="2286000" indent="-457200">
              <a:defRPr/>
            </a:lvl7pPr>
            <a:lvl8pPr marL="2286000" indent="-457200">
              <a:defRPr/>
            </a:lvl8pPr>
            <a:lvl9pPr marL="2286000" indent="-457200"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2" descr="HR-Glyph-R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49040" y="1658992"/>
            <a:ext cx="1645920" cy="17041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62800" y="537882"/>
            <a:ext cx="1524000" cy="532503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537882"/>
            <a:ext cx="5889812" cy="5325036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2" descr="HR-Glyph-R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5400000">
            <a:off x="6052928" y="3115195"/>
            <a:ext cx="1645920" cy="170411"/>
          </a:xfrm>
          <a:prstGeom prst="rect">
            <a:avLst/>
          </a:prstGeom>
          <a:noFill/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05300" y="6289115"/>
            <a:ext cx="533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19F32C-0EA1-426B-B3A6-4B376DAD0AB9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67236"/>
            <a:ext cx="7770813" cy="1371600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9800"/>
            <a:ext cx="7770813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0" y="6289115"/>
            <a:ext cx="237564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821725-BCEF-476B-9B10-FFE64A06E43D}" type="datetimeFigureOut">
              <a:rPr lang="en-US" smtClean="0"/>
              <a:t>1/15/12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9624" y="6289115"/>
            <a:ext cx="31555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5000" kern="1200">
          <a:solidFill>
            <a:schemeClr val="tx2"/>
          </a:solidFill>
          <a:effectLst>
            <a:outerShdw blurRad="38100" dist="12700" algn="l" rotWithShape="0">
              <a:prstClr val="black">
                <a:alpha val="40000"/>
              </a:prstClr>
            </a:outerShdw>
          </a:effectLst>
          <a:latin typeface="+mj-lt"/>
          <a:ea typeface="+mj-ea"/>
          <a:cs typeface="+mj-cs"/>
        </a:defRPr>
      </a:lvl1pPr>
    </p:titleStyle>
    <p:bodyStyle>
      <a:lvl1pPr marL="457200" indent="-457200" algn="l" defTabSz="914400" rtl="0" eaLnBrk="1" latinLnBrk="0" hangingPunct="1">
        <a:spcBef>
          <a:spcPts val="2000"/>
        </a:spcBef>
        <a:buClr>
          <a:schemeClr val="accent3"/>
        </a:buClr>
        <a:buFont typeface="Wingdings" pitchFamily="2" charset="2"/>
        <a:buChar char="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457200" algn="l" defTabSz="914400" rtl="0" eaLnBrk="1" latinLnBrk="0" hangingPunct="1">
        <a:spcBef>
          <a:spcPts val="600"/>
        </a:spcBef>
        <a:buClr>
          <a:schemeClr val="accent3">
            <a:lumMod val="50000"/>
          </a:schemeClr>
        </a:buClr>
        <a:buFont typeface="Wingdings" pitchFamily="2" charset="2"/>
        <a:buChar char="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457200" algn="l" defTabSz="914400" rtl="0" eaLnBrk="1" latinLnBrk="0" hangingPunct="1">
        <a:spcBef>
          <a:spcPts val="600"/>
        </a:spcBef>
        <a:buClr>
          <a:schemeClr val="accent3"/>
        </a:buClr>
        <a:buFont typeface="Wingdings" pitchFamily="2" charset="2"/>
        <a:buChar char="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457200" algn="l" defTabSz="914400" rtl="0" eaLnBrk="1" latinLnBrk="0" hangingPunct="1">
        <a:spcBef>
          <a:spcPts val="600"/>
        </a:spcBef>
        <a:buClr>
          <a:schemeClr val="accent3">
            <a:lumMod val="50000"/>
          </a:schemeClr>
        </a:buClr>
        <a:buFont typeface="Wingdings" pitchFamily="2" charset="2"/>
        <a:buChar char="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457200" algn="l" defTabSz="914400" rtl="0" eaLnBrk="1" latinLnBrk="0" hangingPunct="1">
        <a:spcBef>
          <a:spcPts val="600"/>
        </a:spcBef>
        <a:buClr>
          <a:schemeClr val="accent3"/>
        </a:buClr>
        <a:buFont typeface="Wingdings" pitchFamily="2" charset="2"/>
        <a:buChar char="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461963" algn="l" defTabSz="914400" rtl="0" eaLnBrk="1" latinLnBrk="0" hangingPunct="1">
        <a:spcBef>
          <a:spcPct val="20000"/>
        </a:spcBef>
        <a:buClr>
          <a:schemeClr val="accent3">
            <a:lumMod val="50000"/>
          </a:schemeClr>
        </a:buClr>
        <a:buFont typeface="Wingdings" pitchFamily="2" charset="2"/>
        <a:buChar char="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205163" indent="-461963" algn="l" defTabSz="914400" rtl="0" eaLnBrk="1" latinLnBrk="0" hangingPunct="1">
        <a:spcBef>
          <a:spcPct val="20000"/>
        </a:spcBef>
        <a:buClr>
          <a:schemeClr val="accent3"/>
        </a:buClr>
        <a:buFont typeface="Wingdings" pitchFamily="2" charset="2"/>
        <a:buChar char="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600" indent="-461963" algn="l" defTabSz="914400" rtl="0" eaLnBrk="1" latinLnBrk="0" hangingPunct="1">
        <a:spcBef>
          <a:spcPct val="20000"/>
        </a:spcBef>
        <a:buClr>
          <a:schemeClr val="accent3">
            <a:lumMod val="50000"/>
          </a:schemeClr>
        </a:buClr>
        <a:buFont typeface="Wingdings" pitchFamily="2" charset="2"/>
        <a:buChar char="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119563" indent="-461963" algn="l" defTabSz="914400" rtl="0" eaLnBrk="1" latinLnBrk="0" hangingPunct="1">
        <a:spcBef>
          <a:spcPct val="20000"/>
        </a:spcBef>
        <a:buClr>
          <a:schemeClr val="accent3"/>
        </a:buClr>
        <a:buFont typeface="Wingdings" pitchFamily="2" charset="2"/>
        <a:buChar char="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Web-Based Social Stories Template Creator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Sam Levin</a:t>
            </a:r>
          </a:p>
          <a:p>
            <a:r>
              <a:rPr lang="en-US" dirty="0" smtClean="0"/>
              <a:t>David Mao</a:t>
            </a:r>
          </a:p>
          <a:p>
            <a:r>
              <a:rPr lang="en-US" dirty="0" smtClean="0"/>
              <a:t>Greg Rivera</a:t>
            </a:r>
          </a:p>
          <a:p>
            <a:r>
              <a:rPr lang="en-US" dirty="0" smtClean="0"/>
              <a:t>David Sun</a:t>
            </a:r>
          </a:p>
          <a:p>
            <a:endParaRPr lang="en-US" dirty="0" smtClean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 xmlns:p14="http://schemas.microsoft.com/office/powerpoint/2010/main"/>
    </mc:Fallback>
  </mc:AlternateContent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Purpose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Help </a:t>
            </a:r>
            <a:r>
              <a:rPr lang="en-US" dirty="0" smtClean="0"/>
              <a:t>children with Autism to learn how to act in various </a:t>
            </a:r>
            <a:r>
              <a:rPr lang="en-US" dirty="0" smtClean="0"/>
              <a:t>situations</a:t>
            </a:r>
          </a:p>
          <a:p>
            <a:r>
              <a:rPr lang="en-US" dirty="0"/>
              <a:t>Children with Autism often have difficulty understanding social </a:t>
            </a:r>
            <a:r>
              <a:rPr lang="en-US" dirty="0" smtClean="0"/>
              <a:t>situations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xmlns:p14="http://schemas.microsoft.com/office/powerpoint/2010/main" spd="med">
        <p:fade/>
      </p:transition>
    </mc:Fallback>
  </mc:AlternateContent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33600"/>
            <a:ext cx="7770813" cy="2133600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Teacher can log on with a set password to access two pages:</a:t>
            </a:r>
          </a:p>
          <a:p>
            <a:pPr lvl="1"/>
            <a:r>
              <a:rPr lang="en-US" dirty="0" smtClean="0"/>
              <a:t>Write new story</a:t>
            </a:r>
          </a:p>
          <a:p>
            <a:pPr lvl="1"/>
            <a:r>
              <a:rPr lang="en-US" dirty="0" smtClean="0"/>
              <a:t>View students (and their completed stories)</a:t>
            </a:r>
          </a:p>
          <a:p>
            <a:r>
              <a:rPr lang="en-US" dirty="0" smtClean="0"/>
              <a:t>Students can log on and select stories to complete.</a:t>
            </a:r>
          </a:p>
        </p:txBody>
      </p:sp>
    </p:spTree>
    <p:extLst>
      <p:ext uri="{BB962C8B-B14F-4D97-AF65-F5344CB8AC3E}">
        <p14:creationId xmlns:p14="http://schemas.microsoft.com/office/powerpoint/2010/main" val="305519160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smtClean="0"/>
              <a:t>Front-end</a:t>
            </a:r>
          </a:p>
          <a:p>
            <a:pPr lvl="1"/>
            <a:r>
              <a:rPr lang="en-US" dirty="0" smtClean="0"/>
              <a:t>Used </a:t>
            </a:r>
            <a:r>
              <a:rPr lang="en-US" dirty="0" err="1" smtClean="0"/>
              <a:t>Jquery</a:t>
            </a:r>
            <a:r>
              <a:rPr lang="en-US" dirty="0" smtClean="0"/>
              <a:t>, HTML, and CSS</a:t>
            </a:r>
            <a:r>
              <a:rPr lang="en-US" dirty="0" smtClean="0"/>
              <a:t> </a:t>
            </a:r>
            <a:r>
              <a:rPr lang="en-US" dirty="0" smtClean="0"/>
              <a:t>to design webpages</a:t>
            </a:r>
          </a:p>
          <a:p>
            <a:pPr lvl="1"/>
            <a:r>
              <a:rPr lang="en-US" dirty="0" smtClean="0"/>
              <a:t>C</a:t>
            </a:r>
            <a:r>
              <a:rPr lang="en-US" dirty="0" smtClean="0"/>
              <a:t>reated </a:t>
            </a:r>
            <a:r>
              <a:rPr lang="en-US" dirty="0" smtClean="0"/>
              <a:t>and </a:t>
            </a:r>
            <a:r>
              <a:rPr lang="en-US" dirty="0" smtClean="0"/>
              <a:t>implemented </a:t>
            </a:r>
            <a:r>
              <a:rPr lang="en-US" dirty="0" smtClean="0"/>
              <a:t>site map to make the site user-friendly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smtClean="0"/>
              <a:t>Back-end</a:t>
            </a:r>
          </a:p>
          <a:p>
            <a:pPr lvl="1"/>
            <a:r>
              <a:rPr lang="en-US" dirty="0" smtClean="0"/>
              <a:t>Used </a:t>
            </a:r>
            <a:r>
              <a:rPr lang="en-US" dirty="0" err="1" smtClean="0"/>
              <a:t>MySQL</a:t>
            </a:r>
            <a:r>
              <a:rPr lang="en-US" dirty="0" smtClean="0"/>
              <a:t> and PHP to store and access items from the database</a:t>
            </a:r>
          </a:p>
          <a:p>
            <a:pPr lvl="1"/>
            <a:r>
              <a:rPr lang="en-US" dirty="0" smtClean="0"/>
              <a:t>Used hidden </a:t>
            </a:r>
            <a:r>
              <a:rPr lang="en-US" dirty="0" smtClean="0"/>
              <a:t>MySQL commands inside PHP functions</a:t>
            </a:r>
            <a:endParaRPr lang="en-US" dirty="0"/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Challenges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85800" y="1981200"/>
            <a:ext cx="7770813" cy="31242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</a:t>
            </a:r>
            <a:r>
              <a:rPr lang="en-US" dirty="0"/>
              <a:t> MySQL database </a:t>
            </a:r>
            <a:r>
              <a:rPr lang="en-US" dirty="0" smtClean="0"/>
              <a:t>experience</a:t>
            </a:r>
            <a:endParaRPr lang="en-US" dirty="0" smtClean="0"/>
          </a:p>
          <a:p>
            <a:r>
              <a:rPr lang="en-US" dirty="0">
                <a:solidFill>
                  <a:srgbClr val="FF0000"/>
                </a:solidFill>
              </a:rPr>
              <a:t>B</a:t>
            </a:r>
            <a:r>
              <a:rPr lang="en-US" dirty="0" smtClean="0">
                <a:solidFill>
                  <a:srgbClr val="FF0000"/>
                </a:solidFill>
              </a:rPr>
              <a:t>asic</a:t>
            </a:r>
            <a:r>
              <a:rPr lang="en-US" dirty="0" smtClean="0"/>
              <a:t> </a:t>
            </a:r>
            <a:r>
              <a:rPr lang="en-US" dirty="0" smtClean="0"/>
              <a:t>knowledge of </a:t>
            </a:r>
            <a:r>
              <a:rPr lang="en-US" dirty="0" smtClean="0"/>
              <a:t>HTML and CSS</a:t>
            </a:r>
            <a:endParaRPr lang="en-US" dirty="0" smtClean="0"/>
          </a:p>
          <a:p>
            <a:r>
              <a:rPr lang="en-US" dirty="0" smtClean="0">
                <a:solidFill>
                  <a:srgbClr val="FF0000"/>
                </a:solidFill>
              </a:rPr>
              <a:t>Basic</a:t>
            </a:r>
            <a:r>
              <a:rPr lang="en-US" dirty="0" smtClean="0"/>
              <a:t> knowledge PHP</a:t>
            </a:r>
            <a:endParaRPr lang="en-US" dirty="0"/>
          </a:p>
          <a:p>
            <a:r>
              <a:rPr lang="en-US" dirty="0" smtClean="0">
                <a:solidFill>
                  <a:schemeClr val="accent5">
                    <a:lumMod val="50000"/>
                    <a:lumOff val="50000"/>
                  </a:schemeClr>
                </a:solidFill>
              </a:rPr>
              <a:t>Special thanks to our mentors, Mike and Ely for keeping us on track!</a:t>
            </a:r>
            <a:endParaRPr lang="en-US" dirty="0">
              <a:solidFill>
                <a:schemeClr val="accent5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Improvements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Front End (User Interface)</a:t>
            </a:r>
          </a:p>
          <a:p>
            <a:pPr lvl="1"/>
            <a:r>
              <a:rPr lang="en-US" dirty="0" smtClean="0"/>
              <a:t>Let teachers </a:t>
            </a:r>
            <a:r>
              <a:rPr lang="en-US" dirty="0" smtClean="0"/>
              <a:t>to edit previous </a:t>
            </a:r>
            <a:r>
              <a:rPr lang="en-US" dirty="0" smtClean="0"/>
              <a:t>stories</a:t>
            </a:r>
          </a:p>
          <a:p>
            <a:pPr lvl="1"/>
            <a:r>
              <a:rPr lang="en-US" dirty="0" smtClean="0"/>
              <a:t>Let teachers </a:t>
            </a:r>
            <a:r>
              <a:rPr lang="en-US" dirty="0"/>
              <a:t>add pictures to the stories</a:t>
            </a:r>
          </a:p>
          <a:p>
            <a:pPr lvl="1"/>
            <a:r>
              <a:rPr lang="en-US" dirty="0" smtClean="0"/>
              <a:t>Screen-reading functionality</a:t>
            </a:r>
          </a:p>
          <a:p>
            <a:r>
              <a:rPr lang="en-US" dirty="0" smtClean="0"/>
              <a:t>Back End</a:t>
            </a:r>
          </a:p>
          <a:p>
            <a:pPr lvl="1"/>
            <a:r>
              <a:rPr lang="en-US" dirty="0" smtClean="0"/>
              <a:t>Better organization</a:t>
            </a: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Demonstration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 xmlns:p14="http://schemas.microsoft.com/office/powerpoint/2010/main"/>
    </mc:Fallback>
  </mc:AlternateContent>
  <p:timing>
    <p:tnLst>
      <p:par>
        <p:cTn xmlns:p14="http://schemas.microsoft.com/office/powerpoint/2010/main"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1" Type="http://schemas.openxmlformats.org/officeDocument/2006/relationships/image" Target="../media/image1.jpeg"/><Relationship Id="rId2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Folio">
  <a:themeElements>
    <a:clrScheme name="Folio">
      <a:dk1>
        <a:sysClr val="windowText" lastClr="000000"/>
      </a:dk1>
      <a:lt1>
        <a:sysClr val="window" lastClr="FFFFFF"/>
      </a:lt1>
      <a:dk2>
        <a:srgbClr val="2D2F2B"/>
      </a:dk2>
      <a:lt2>
        <a:srgbClr val="DEDED7"/>
      </a:lt2>
      <a:accent1>
        <a:srgbClr val="294171"/>
      </a:accent1>
      <a:accent2>
        <a:srgbClr val="748CBC"/>
      </a:accent2>
      <a:accent3>
        <a:srgbClr val="8E887C"/>
      </a:accent3>
      <a:accent4>
        <a:srgbClr val="834736"/>
      </a:accent4>
      <a:accent5>
        <a:srgbClr val="5A1705"/>
      </a:accent5>
      <a:accent6>
        <a:srgbClr val="A0A16A"/>
      </a:accent6>
      <a:hlink>
        <a:srgbClr val="74B6BC"/>
      </a:hlink>
      <a:folHlink>
        <a:srgbClr val="7F95A4"/>
      </a:folHlink>
    </a:clrScheme>
    <a:fontScheme name="Folio">
      <a:majorFont>
        <a:latin typeface="Calisto MT"/>
        <a:ea typeface=""/>
        <a:cs typeface=""/>
        <a:font script="Jpan" typeface="ＭＳ 明朝"/>
      </a:majorFont>
      <a:minorFont>
        <a:latin typeface="Calisto MT"/>
        <a:ea typeface=""/>
        <a:cs typeface=""/>
        <a:font script="Jpan" typeface="ＭＳ 明朝"/>
      </a:minorFont>
    </a:fontScheme>
    <a:fmtScheme name="Folio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350000"/>
                <a:lumMod val="110000"/>
              </a:schemeClr>
            </a:duotone>
          </a:blip>
          <a:stretch/>
        </a:blipFill>
        <a:blipFill rotWithShape="1">
          <a:blip xmlns:r="http://schemas.openxmlformats.org/officeDocument/2006/relationships" r:embed="rId2">
            <a:duotone>
              <a:schemeClr val="phClr">
                <a:shade val="40000"/>
                <a:satMod val="120000"/>
              </a:schemeClr>
              <a:schemeClr val="phClr">
                <a:tint val="70000"/>
                <a:satMod val="300000"/>
                <a:lumMod val="110000"/>
              </a:schemeClr>
            </a:duotone>
          </a:blip>
          <a:tile tx="0" ty="0" sx="50000" sy="50000" flip="none" algn="tl"/>
        </a:blip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8100" dist="25400" dir="5400000" algn="br" rotWithShape="0">
              <a:srgbClr val="000000">
                <a:alpha val="50000"/>
              </a:srgbClr>
            </a:outerShdw>
          </a:effectLst>
        </a:effectStyle>
        <a:effectStyle>
          <a:effectLst>
            <a:innerShdw blurRad="190500" dist="25400">
              <a:srgbClr val="000000">
                <a:alpha val="50000"/>
              </a:srgbClr>
            </a:innerShdw>
          </a:effectLst>
        </a:effectStyle>
      </a:effectStyleLst>
      <a:bgFillStyleLst>
        <a:blipFill rotWithShape="1">
          <a:blip xmlns:r="http://schemas.openxmlformats.org/officeDocument/2006/relationships" r:embed="rId3">
            <a:duotone>
              <a:schemeClr val="phClr">
                <a:shade val="10000"/>
                <a:satMod val="125000"/>
              </a:schemeClr>
              <a:schemeClr val="phClr">
                <a:tint val="70000"/>
                <a:satMod val="350000"/>
                <a:lumMod val="110000"/>
              </a:schemeClr>
            </a:duotone>
          </a:blip>
          <a:stretch/>
        </a:blipFill>
        <a:blipFill rotWithShape="1">
          <a:blip xmlns:r="http://schemas.openxmlformats.org/officeDocument/2006/relationships" r:embed="rId4">
            <a:duotone>
              <a:schemeClr val="phClr">
                <a:shade val="10000"/>
                <a:satMod val="125000"/>
              </a:schemeClr>
              <a:schemeClr val="phClr">
                <a:tint val="70000"/>
                <a:satMod val="350000"/>
                <a:lumMod val="110000"/>
              </a:schemeClr>
            </a:duotone>
          </a:blip>
          <a:stretch/>
        </a:blipFill>
        <a:blipFill rotWithShape="1">
          <a:blip xmlns:r="http://schemas.openxmlformats.org/officeDocument/2006/relationships" r:embed="rId5">
            <a:duotone>
              <a:schemeClr val="phClr">
                <a:shade val="3000"/>
                <a:lumMod val="10000"/>
              </a:schemeClr>
              <a:schemeClr val="phClr">
                <a:tint val="91000"/>
                <a:satMod val="500000"/>
                <a:lumMod val="125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Folio.thmx</Template>
  <TotalTime>52</TotalTime>
  <Words>179</Words>
  <Application>Microsoft Macintosh PowerPoint</Application>
  <PresentationFormat>On-screen Show (4:3)</PresentationFormat>
  <Paragraphs>33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Folio</vt:lpstr>
      <vt:lpstr>Web-Based Social Stories Template Creator</vt:lpstr>
      <vt:lpstr>Purpose</vt:lpstr>
      <vt:lpstr>Outline</vt:lpstr>
      <vt:lpstr>Design</vt:lpstr>
      <vt:lpstr>Challenges</vt:lpstr>
      <vt:lpstr>Future Improvements</vt:lpstr>
      <vt:lpstr>Demonstration</vt:lpstr>
    </vt:vector>
  </TitlesOfParts>
  <Company>Grizli777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Web-Based Social Stories Template Creator</dc:title>
  <dc:creator>greg</dc:creator>
  <cp:lastModifiedBy>David Mao</cp:lastModifiedBy>
  <cp:revision>16</cp:revision>
  <dcterms:created xsi:type="dcterms:W3CDTF">2012-01-15T20:38:14Z</dcterms:created>
  <dcterms:modified xsi:type="dcterms:W3CDTF">2012-01-15T21:48:38Z</dcterms:modified>
</cp:coreProperties>
</file>